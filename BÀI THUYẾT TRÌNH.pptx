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T Lakes Neue Expanded Bold" charset="1" panose="02010001040000080307"/>
      <p:regular r:id="rId13"/>
    </p:embeddedFont>
    <p:embeddedFont>
      <p:font typeface="Times New Roman Bold" charset="1" panose="02020803070505020304"/>
      <p:regular r:id="rId14"/>
    </p:embeddedFont>
    <p:embeddedFont>
      <p:font typeface="Times New Roman" charset="1" panose="02020603050405020304"/>
      <p:regular r:id="rId15"/>
    </p:embeddedFont>
    <p:embeddedFont>
      <p:font typeface="Poppins" charset="1" panose="00000500000000000000"/>
      <p:regular r:id="rId16"/>
    </p:embeddedFont>
    <p:embeddedFont>
      <p:font typeface="Poppins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3.pn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71865" y="-485270"/>
            <a:ext cx="11706247" cy="11706247"/>
          </a:xfrm>
          <a:custGeom>
            <a:avLst/>
            <a:gdLst/>
            <a:ahLst/>
            <a:cxnLst/>
            <a:rect r="r" b="b" t="t" l="l"/>
            <a:pathLst>
              <a:path h="11706247" w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55865" y="837130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033811" y="837130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2" y="0"/>
                </a:lnTo>
                <a:lnTo>
                  <a:pt x="69941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600418"/>
            <a:ext cx="16514364" cy="7086163"/>
          </a:xfrm>
          <a:custGeom>
            <a:avLst/>
            <a:gdLst/>
            <a:ahLst/>
            <a:cxnLst/>
            <a:rect r="r" b="b" t="t" l="l"/>
            <a:pathLst>
              <a:path h="7086163" w="16514364">
                <a:moveTo>
                  <a:pt x="0" y="0"/>
                </a:moveTo>
                <a:lnTo>
                  <a:pt x="16514364" y="0"/>
                </a:lnTo>
                <a:lnTo>
                  <a:pt x="16514364" y="7086164"/>
                </a:lnTo>
                <a:lnTo>
                  <a:pt x="0" y="70861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67006" y="1316099"/>
            <a:ext cx="4292360" cy="5991873"/>
          </a:xfrm>
          <a:custGeom>
            <a:avLst/>
            <a:gdLst/>
            <a:ahLst/>
            <a:cxnLst/>
            <a:rect r="r" b="b" t="t" l="l"/>
            <a:pathLst>
              <a:path h="5991873" w="4292360">
                <a:moveTo>
                  <a:pt x="0" y="0"/>
                </a:moveTo>
                <a:lnTo>
                  <a:pt x="4292360" y="0"/>
                </a:lnTo>
                <a:lnTo>
                  <a:pt x="4292360" y="5991874"/>
                </a:lnTo>
                <a:lnTo>
                  <a:pt x="0" y="59918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30173" y="1844058"/>
            <a:ext cx="5522749" cy="7047591"/>
          </a:xfrm>
          <a:custGeom>
            <a:avLst/>
            <a:gdLst/>
            <a:ahLst/>
            <a:cxnLst/>
            <a:rect r="r" b="b" t="t" l="l"/>
            <a:pathLst>
              <a:path h="7047591" w="5522749">
                <a:moveTo>
                  <a:pt x="0" y="0"/>
                </a:moveTo>
                <a:lnTo>
                  <a:pt x="5522748" y="0"/>
                </a:lnTo>
                <a:lnTo>
                  <a:pt x="5522748" y="7047591"/>
                </a:lnTo>
                <a:lnTo>
                  <a:pt x="0" y="70475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36403" y="5250573"/>
            <a:ext cx="4637582" cy="4114800"/>
          </a:xfrm>
          <a:custGeom>
            <a:avLst/>
            <a:gdLst/>
            <a:ahLst/>
            <a:cxnLst/>
            <a:rect r="r" b="b" t="t" l="l"/>
            <a:pathLst>
              <a:path h="4114800" w="4637582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131751" y="1993959"/>
            <a:ext cx="685996" cy="518768"/>
          </a:xfrm>
          <a:custGeom>
            <a:avLst/>
            <a:gdLst/>
            <a:ahLst/>
            <a:cxnLst/>
            <a:rect r="r" b="b" t="t" l="l"/>
            <a:pathLst>
              <a:path h="518768" w="685996">
                <a:moveTo>
                  <a:pt x="0" y="0"/>
                </a:moveTo>
                <a:lnTo>
                  <a:pt x="685997" y="0"/>
                </a:lnTo>
                <a:lnTo>
                  <a:pt x="685997" y="518768"/>
                </a:lnTo>
                <a:lnTo>
                  <a:pt x="0" y="5187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523041" y="3288387"/>
            <a:ext cx="5823269" cy="2123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5"/>
              </a:lnSpc>
            </a:pPr>
            <a:r>
              <a:rPr lang="en-US" sz="5262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DỰ ÁN NHỎ: WEB BÁO TƯỜNG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90831" y="2156189"/>
            <a:ext cx="1678700" cy="181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sz="1317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NHÓM 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26405" y="6154835"/>
            <a:ext cx="529775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3500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NHÓM 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71865" y="-485270"/>
            <a:ext cx="11706247" cy="11706247"/>
          </a:xfrm>
          <a:custGeom>
            <a:avLst/>
            <a:gdLst/>
            <a:ahLst/>
            <a:cxnLst/>
            <a:rect r="r" b="b" t="t" l="l"/>
            <a:pathLst>
              <a:path h="11706247" w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55865" y="837130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033811" y="837130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2" y="0"/>
                </a:lnTo>
                <a:lnTo>
                  <a:pt x="69941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67006" y="1316099"/>
            <a:ext cx="4292360" cy="5991873"/>
          </a:xfrm>
          <a:custGeom>
            <a:avLst/>
            <a:gdLst/>
            <a:ahLst/>
            <a:cxnLst/>
            <a:rect r="r" b="b" t="t" l="l"/>
            <a:pathLst>
              <a:path h="5991873" w="4292360">
                <a:moveTo>
                  <a:pt x="0" y="0"/>
                </a:moveTo>
                <a:lnTo>
                  <a:pt x="4292360" y="0"/>
                </a:lnTo>
                <a:lnTo>
                  <a:pt x="4292360" y="5991874"/>
                </a:lnTo>
                <a:lnTo>
                  <a:pt x="0" y="59918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30173" y="1844058"/>
            <a:ext cx="5522749" cy="7047591"/>
          </a:xfrm>
          <a:custGeom>
            <a:avLst/>
            <a:gdLst/>
            <a:ahLst/>
            <a:cxnLst/>
            <a:rect r="r" b="b" t="t" l="l"/>
            <a:pathLst>
              <a:path h="7047591" w="5522749">
                <a:moveTo>
                  <a:pt x="0" y="0"/>
                </a:moveTo>
                <a:lnTo>
                  <a:pt x="5522748" y="0"/>
                </a:lnTo>
                <a:lnTo>
                  <a:pt x="5522748" y="7047591"/>
                </a:lnTo>
                <a:lnTo>
                  <a:pt x="0" y="70475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36403" y="5250573"/>
            <a:ext cx="4637582" cy="4114800"/>
          </a:xfrm>
          <a:custGeom>
            <a:avLst/>
            <a:gdLst/>
            <a:ahLst/>
            <a:cxnLst/>
            <a:rect r="r" b="b" t="t" l="l"/>
            <a:pathLst>
              <a:path h="4114800" w="4637582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610" y="187420"/>
            <a:ext cx="685996" cy="518768"/>
          </a:xfrm>
          <a:custGeom>
            <a:avLst/>
            <a:gdLst/>
            <a:ahLst/>
            <a:cxnLst/>
            <a:rect r="r" b="b" t="t" l="l"/>
            <a:pathLst>
              <a:path h="518768" w="685996">
                <a:moveTo>
                  <a:pt x="0" y="0"/>
                </a:moveTo>
                <a:lnTo>
                  <a:pt x="685996" y="0"/>
                </a:lnTo>
                <a:lnTo>
                  <a:pt x="685996" y="518768"/>
                </a:lnTo>
                <a:lnTo>
                  <a:pt x="0" y="5187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812800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532306" y="613652"/>
            <a:ext cx="8486272" cy="996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4"/>
              </a:lnSpc>
            </a:pPr>
            <a:r>
              <a:rPr lang="en-US" sz="6995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THÀNH VIÊN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3606" y="346630"/>
            <a:ext cx="1678700" cy="20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sz="1317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NHÓM 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81253" y="1773159"/>
            <a:ext cx="7513079" cy="775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6"/>
              </a:lnSpc>
            </a:pPr>
            <a:r>
              <a:rPr lang="en-US" sz="340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Phan Minh Thuận – Bài trình chiếu</a:t>
            </a:r>
          </a:p>
          <a:p>
            <a:pPr algn="l">
              <a:lnSpc>
                <a:spcPts val="3576"/>
              </a:lnSpc>
            </a:pPr>
          </a:p>
          <a:p>
            <a:pPr algn="l">
              <a:lnSpc>
                <a:spcPts val="3576"/>
              </a:lnSpc>
            </a:pPr>
            <a:r>
              <a:rPr lang="en-US" sz="340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Thanh Hải Đăng – Bài trình chiếu</a:t>
            </a:r>
          </a:p>
          <a:p>
            <a:pPr algn="l">
              <a:lnSpc>
                <a:spcPts val="3576"/>
              </a:lnSpc>
            </a:pPr>
          </a:p>
          <a:p>
            <a:pPr algn="l">
              <a:lnSpc>
                <a:spcPts val="3576"/>
              </a:lnSpc>
            </a:pPr>
            <a:r>
              <a:rPr lang="en-US" sz="340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Duy Khương – Thuyết trình</a:t>
            </a:r>
          </a:p>
          <a:p>
            <a:pPr algn="l">
              <a:lnSpc>
                <a:spcPts val="3576"/>
              </a:lnSpc>
            </a:pPr>
          </a:p>
          <a:p>
            <a:pPr algn="l">
              <a:lnSpc>
                <a:spcPts val="3576"/>
              </a:lnSpc>
            </a:pPr>
            <a:r>
              <a:rPr lang="en-US" sz="340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Phạm Triệu Vĩ – HTML, CSS</a:t>
            </a:r>
          </a:p>
          <a:p>
            <a:pPr algn="l">
              <a:lnSpc>
                <a:spcPts val="3576"/>
              </a:lnSpc>
            </a:pPr>
          </a:p>
          <a:p>
            <a:pPr algn="l">
              <a:lnSpc>
                <a:spcPts val="3576"/>
              </a:lnSpc>
            </a:pPr>
            <a:r>
              <a:rPr lang="en-US" sz="340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Nhựt Anh – Nội dung</a:t>
            </a:r>
          </a:p>
          <a:p>
            <a:pPr algn="l">
              <a:lnSpc>
                <a:spcPts val="3576"/>
              </a:lnSpc>
            </a:pPr>
          </a:p>
          <a:p>
            <a:pPr algn="l">
              <a:lnSpc>
                <a:spcPts val="3576"/>
              </a:lnSpc>
            </a:pPr>
            <a:r>
              <a:rPr lang="en-US" sz="340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Toàn Thắng – Nội dung </a:t>
            </a:r>
          </a:p>
          <a:p>
            <a:pPr algn="l">
              <a:lnSpc>
                <a:spcPts val="3576"/>
              </a:lnSpc>
            </a:pPr>
          </a:p>
          <a:p>
            <a:pPr algn="l">
              <a:lnSpc>
                <a:spcPts val="3576"/>
              </a:lnSpc>
            </a:pPr>
            <a:r>
              <a:rPr lang="en-US" sz="340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Lê Thị Thảo Nguyên – Hình ảnh</a:t>
            </a:r>
          </a:p>
          <a:p>
            <a:pPr algn="l">
              <a:lnSpc>
                <a:spcPts val="3576"/>
              </a:lnSpc>
            </a:pPr>
          </a:p>
          <a:p>
            <a:pPr algn="l">
              <a:lnSpc>
                <a:spcPts val="3576"/>
              </a:lnSpc>
            </a:pPr>
            <a:r>
              <a:rPr lang="en-US" sz="340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Phương Thuỳ – Hình ảnh</a:t>
            </a:r>
          </a:p>
          <a:p>
            <a:pPr algn="l">
              <a:lnSpc>
                <a:spcPts val="3576"/>
              </a:lnSpc>
            </a:pPr>
          </a:p>
          <a:p>
            <a:pPr algn="l">
              <a:lnSpc>
                <a:spcPts val="3576"/>
              </a:lnSpc>
            </a:pPr>
            <a:r>
              <a:rPr lang="en-US" sz="340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Huỳnh Thị Cẩm Ghi – Hình ảnh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509932"/>
            <a:ext cx="685996" cy="518768"/>
          </a:xfrm>
          <a:custGeom>
            <a:avLst/>
            <a:gdLst/>
            <a:ahLst/>
            <a:cxnLst/>
            <a:rect r="r" b="b" t="t" l="l"/>
            <a:pathLst>
              <a:path h="518768" w="685996">
                <a:moveTo>
                  <a:pt x="0" y="0"/>
                </a:moveTo>
                <a:lnTo>
                  <a:pt x="685996" y="0"/>
                </a:lnTo>
                <a:lnTo>
                  <a:pt x="685996" y="518768"/>
                </a:lnTo>
                <a:lnTo>
                  <a:pt x="0" y="5187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659532" y="-68376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837798" y="6103824"/>
            <a:ext cx="4637582" cy="4114800"/>
          </a:xfrm>
          <a:custGeom>
            <a:avLst/>
            <a:gdLst/>
            <a:ahLst/>
            <a:cxnLst/>
            <a:rect r="r" b="b" t="t" l="l"/>
            <a:pathLst>
              <a:path h="4114800" w="4637582">
                <a:moveTo>
                  <a:pt x="0" y="0"/>
                </a:moveTo>
                <a:lnTo>
                  <a:pt x="4637581" y="0"/>
                </a:lnTo>
                <a:lnTo>
                  <a:pt x="46375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87779" y="672161"/>
            <a:ext cx="1678700" cy="181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sz="1317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NHÓM 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3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71698" y="1854921"/>
            <a:ext cx="6586486" cy="2191503"/>
          </a:xfrm>
          <a:custGeom>
            <a:avLst/>
            <a:gdLst/>
            <a:ahLst/>
            <a:cxnLst/>
            <a:rect r="r" b="b" t="t" l="l"/>
            <a:pathLst>
              <a:path h="2191503" w="6586486">
                <a:moveTo>
                  <a:pt x="0" y="0"/>
                </a:moveTo>
                <a:lnTo>
                  <a:pt x="6586486" y="0"/>
                </a:lnTo>
                <a:lnTo>
                  <a:pt x="6586486" y="2191503"/>
                </a:lnTo>
                <a:lnTo>
                  <a:pt x="0" y="21915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34576" y="2404890"/>
            <a:ext cx="5867677" cy="115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4"/>
              </a:lnSpc>
            </a:pPr>
            <a:r>
              <a:rPr lang="en-US" b="true" sz="429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NỘI DUNG TRANG WEB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8732" y="3824075"/>
            <a:ext cx="12051031" cy="517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48"/>
              </a:lnSpc>
              <a:spcBef>
                <a:spcPct val="0"/>
              </a:spcBef>
            </a:pPr>
            <a:r>
              <a:rPr lang="en-US" sz="4331" spc="1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 marL="935244" indent="-467622" lvl="1">
              <a:lnSpc>
                <a:spcPts val="4548"/>
              </a:lnSpc>
              <a:spcBef>
                <a:spcPct val="0"/>
              </a:spcBef>
              <a:buFont typeface="Arial"/>
              <a:buChar char="•"/>
            </a:pPr>
            <a:r>
              <a:rPr lang="en-US" sz="4331" spc="1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Chủ đề trang web: Tết – Tuổi 18 – Ước mơ và hoài bão</a:t>
            </a:r>
          </a:p>
          <a:p>
            <a:pPr algn="just" marL="935244" indent="-467622" lvl="1">
              <a:lnSpc>
                <a:spcPts val="4548"/>
              </a:lnSpc>
              <a:spcBef>
                <a:spcPct val="0"/>
              </a:spcBef>
              <a:buFont typeface="Arial"/>
              <a:buChar char="•"/>
            </a:pPr>
            <a:r>
              <a:rPr lang="en-US" sz="4331" spc="1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Nội dung trang web gồm:</a:t>
            </a:r>
          </a:p>
          <a:p>
            <a:pPr algn="just">
              <a:lnSpc>
                <a:spcPts val="4548"/>
              </a:lnSpc>
              <a:spcBef>
                <a:spcPct val="0"/>
              </a:spcBef>
            </a:pPr>
          </a:p>
          <a:p>
            <a:pPr algn="just" marL="1870488" indent="-623496" lvl="2">
              <a:lnSpc>
                <a:spcPts val="4548"/>
              </a:lnSpc>
              <a:spcBef>
                <a:spcPct val="0"/>
              </a:spcBef>
              <a:buFont typeface="Arial"/>
              <a:buChar char="⚬"/>
            </a:pPr>
            <a:r>
              <a:rPr lang="en-US" sz="4331" spc="1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Phần giới thiệu báo tường</a:t>
            </a:r>
          </a:p>
          <a:p>
            <a:pPr algn="just" marL="1870488" indent="-623496" lvl="2">
              <a:lnSpc>
                <a:spcPts val="4548"/>
              </a:lnSpc>
              <a:spcBef>
                <a:spcPct val="0"/>
              </a:spcBef>
              <a:buFont typeface="Arial"/>
              <a:buChar char="⚬"/>
            </a:pPr>
            <a:r>
              <a:rPr lang="en-US" sz="4331" spc="1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Phong tục ngày tết</a:t>
            </a:r>
          </a:p>
          <a:p>
            <a:pPr algn="just" marL="1870488" indent="-623496" lvl="2">
              <a:lnSpc>
                <a:spcPts val="4548"/>
              </a:lnSpc>
              <a:spcBef>
                <a:spcPct val="0"/>
              </a:spcBef>
              <a:buFont typeface="Arial"/>
              <a:buChar char="⚬"/>
            </a:pPr>
            <a:r>
              <a:rPr lang="en-US" sz="4331" spc="1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Một số hình ảnh ngày tết</a:t>
            </a:r>
          </a:p>
          <a:p>
            <a:pPr algn="just" marL="1870488" indent="-623496" lvl="2">
              <a:lnSpc>
                <a:spcPts val="4548"/>
              </a:lnSpc>
              <a:spcBef>
                <a:spcPct val="0"/>
              </a:spcBef>
              <a:buFont typeface="Arial"/>
              <a:buChar char="⚬"/>
            </a:pPr>
            <a:r>
              <a:rPr lang="en-US" sz="4331" spc="14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Góc bình luận và góp ý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509932"/>
            <a:ext cx="685996" cy="518768"/>
          </a:xfrm>
          <a:custGeom>
            <a:avLst/>
            <a:gdLst/>
            <a:ahLst/>
            <a:cxnLst/>
            <a:rect r="r" b="b" t="t" l="l"/>
            <a:pathLst>
              <a:path h="518768" w="685996">
                <a:moveTo>
                  <a:pt x="0" y="0"/>
                </a:moveTo>
                <a:lnTo>
                  <a:pt x="685996" y="0"/>
                </a:lnTo>
                <a:lnTo>
                  <a:pt x="685996" y="518768"/>
                </a:lnTo>
                <a:lnTo>
                  <a:pt x="0" y="5187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387661" y="7108128"/>
            <a:ext cx="19889989" cy="8313610"/>
          </a:xfrm>
          <a:custGeom>
            <a:avLst/>
            <a:gdLst/>
            <a:ahLst/>
            <a:cxnLst/>
            <a:rect r="r" b="b" t="t" l="l"/>
            <a:pathLst>
              <a:path h="8313610" w="19889989">
                <a:moveTo>
                  <a:pt x="0" y="0"/>
                </a:moveTo>
                <a:lnTo>
                  <a:pt x="19889989" y="0"/>
                </a:lnTo>
                <a:lnTo>
                  <a:pt x="19889989" y="8313610"/>
                </a:lnTo>
                <a:lnTo>
                  <a:pt x="0" y="83136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084848" y="2704200"/>
            <a:ext cx="3899591" cy="662977"/>
            <a:chOff x="0" y="0"/>
            <a:chExt cx="1027053" cy="1746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7053" cy="174611"/>
            </a:xfrm>
            <a:custGeom>
              <a:avLst/>
              <a:gdLst/>
              <a:ahLst/>
              <a:cxnLst/>
              <a:rect r="r" b="b" t="t" l="l"/>
              <a:pathLst>
                <a:path h="174611" w="1027053">
                  <a:moveTo>
                    <a:pt x="49633" y="0"/>
                  </a:moveTo>
                  <a:lnTo>
                    <a:pt x="977420" y="0"/>
                  </a:lnTo>
                  <a:cubicBezTo>
                    <a:pt x="1004831" y="0"/>
                    <a:pt x="1027053" y="22221"/>
                    <a:pt x="1027053" y="49633"/>
                  </a:cubicBezTo>
                  <a:lnTo>
                    <a:pt x="1027053" y="124978"/>
                  </a:lnTo>
                  <a:cubicBezTo>
                    <a:pt x="1027053" y="138142"/>
                    <a:pt x="1021824" y="150766"/>
                    <a:pt x="1012516" y="160074"/>
                  </a:cubicBezTo>
                  <a:cubicBezTo>
                    <a:pt x="1003208" y="169382"/>
                    <a:pt x="990584" y="174611"/>
                    <a:pt x="977420" y="174611"/>
                  </a:cubicBezTo>
                  <a:lnTo>
                    <a:pt x="49633" y="174611"/>
                  </a:lnTo>
                  <a:cubicBezTo>
                    <a:pt x="36469" y="174611"/>
                    <a:pt x="23845" y="169382"/>
                    <a:pt x="14537" y="160074"/>
                  </a:cubicBezTo>
                  <a:cubicBezTo>
                    <a:pt x="5229" y="150766"/>
                    <a:pt x="0" y="138142"/>
                    <a:pt x="0" y="124978"/>
                  </a:cubicBezTo>
                  <a:lnTo>
                    <a:pt x="0" y="49633"/>
                  </a:lnTo>
                  <a:cubicBezTo>
                    <a:pt x="0" y="22221"/>
                    <a:pt x="22221" y="0"/>
                    <a:pt x="496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1027053" cy="146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256983" y="2772185"/>
            <a:ext cx="309496" cy="527005"/>
          </a:xfrm>
          <a:custGeom>
            <a:avLst/>
            <a:gdLst/>
            <a:ahLst/>
            <a:cxnLst/>
            <a:rect r="r" b="b" t="t" l="l"/>
            <a:pathLst>
              <a:path h="527005" w="309496">
                <a:moveTo>
                  <a:pt x="0" y="0"/>
                </a:moveTo>
                <a:lnTo>
                  <a:pt x="309496" y="0"/>
                </a:lnTo>
                <a:lnTo>
                  <a:pt x="309496" y="527006"/>
                </a:lnTo>
                <a:lnTo>
                  <a:pt x="0" y="5270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019870" y="2704200"/>
            <a:ext cx="3812794" cy="748374"/>
            <a:chOff x="0" y="0"/>
            <a:chExt cx="1004193" cy="1971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4193" cy="197103"/>
            </a:xfrm>
            <a:custGeom>
              <a:avLst/>
              <a:gdLst/>
              <a:ahLst/>
              <a:cxnLst/>
              <a:rect r="r" b="b" t="t" l="l"/>
              <a:pathLst>
                <a:path h="197103" w="1004193">
                  <a:moveTo>
                    <a:pt x="50763" y="0"/>
                  </a:moveTo>
                  <a:lnTo>
                    <a:pt x="953430" y="0"/>
                  </a:lnTo>
                  <a:cubicBezTo>
                    <a:pt x="981465" y="0"/>
                    <a:pt x="1004193" y="22727"/>
                    <a:pt x="1004193" y="50763"/>
                  </a:cubicBezTo>
                  <a:lnTo>
                    <a:pt x="1004193" y="146340"/>
                  </a:lnTo>
                  <a:cubicBezTo>
                    <a:pt x="1004193" y="159803"/>
                    <a:pt x="998844" y="172715"/>
                    <a:pt x="989324" y="182235"/>
                  </a:cubicBezTo>
                  <a:cubicBezTo>
                    <a:pt x="979805" y="191755"/>
                    <a:pt x="966893" y="197103"/>
                    <a:pt x="953430" y="197103"/>
                  </a:cubicBezTo>
                  <a:lnTo>
                    <a:pt x="50763" y="197103"/>
                  </a:lnTo>
                  <a:cubicBezTo>
                    <a:pt x="37300" y="197103"/>
                    <a:pt x="24388" y="191755"/>
                    <a:pt x="14868" y="182235"/>
                  </a:cubicBezTo>
                  <a:cubicBezTo>
                    <a:pt x="5348" y="172715"/>
                    <a:pt x="0" y="159803"/>
                    <a:pt x="0" y="146340"/>
                  </a:cubicBezTo>
                  <a:lnTo>
                    <a:pt x="0" y="50763"/>
                  </a:lnTo>
                  <a:cubicBezTo>
                    <a:pt x="0" y="37300"/>
                    <a:pt x="5348" y="24388"/>
                    <a:pt x="14868" y="14868"/>
                  </a:cubicBezTo>
                  <a:cubicBezTo>
                    <a:pt x="24388" y="5348"/>
                    <a:pt x="37300" y="0"/>
                    <a:pt x="507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1004193" cy="168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2209120" y="2814884"/>
            <a:ext cx="309496" cy="527005"/>
          </a:xfrm>
          <a:custGeom>
            <a:avLst/>
            <a:gdLst/>
            <a:ahLst/>
            <a:cxnLst/>
            <a:rect r="r" b="b" t="t" l="l"/>
            <a:pathLst>
              <a:path h="527005" w="309496">
                <a:moveTo>
                  <a:pt x="0" y="0"/>
                </a:moveTo>
                <a:lnTo>
                  <a:pt x="309496" y="0"/>
                </a:lnTo>
                <a:lnTo>
                  <a:pt x="309496" y="527006"/>
                </a:lnTo>
                <a:lnTo>
                  <a:pt x="0" y="5270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887779" y="672161"/>
            <a:ext cx="1678700" cy="181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sz="1317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NHÓM 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34404" y="1609725"/>
            <a:ext cx="10793017" cy="652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8"/>
              </a:lnSpc>
            </a:pPr>
            <a:r>
              <a:rPr lang="en-US" b="true" sz="474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KĨ THUẬT ĐÃ ÁP DỤNG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6291" y="3462099"/>
            <a:ext cx="8056705" cy="5465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9"/>
              </a:lnSpc>
              <a:spcBef>
                <a:spcPct val="0"/>
              </a:spcBef>
            </a:pPr>
          </a:p>
          <a:p>
            <a:pPr algn="l" marL="524204" indent="-262102" lvl="1">
              <a:lnSpc>
                <a:spcPts val="2549"/>
              </a:lnSpc>
              <a:spcBef>
                <a:spcPct val="0"/>
              </a:spcBef>
              <a:buFont typeface="Arial"/>
              <a:buChar char="•"/>
            </a:pPr>
            <a:r>
              <a:rPr lang="en-US" sz="2427" spc="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Sử dụng HTML để xây dựng cấu trúc trang web (header, nội dung, footer)</a:t>
            </a:r>
          </a:p>
          <a:p>
            <a:pPr algn="l">
              <a:lnSpc>
                <a:spcPts val="2549"/>
              </a:lnSpc>
              <a:spcBef>
                <a:spcPct val="0"/>
              </a:spcBef>
            </a:pPr>
          </a:p>
          <a:p>
            <a:pPr algn="l" marL="524204" indent="-262102" lvl="1">
              <a:lnSpc>
                <a:spcPts val="2549"/>
              </a:lnSpc>
              <a:spcBef>
                <a:spcPct val="0"/>
              </a:spcBef>
              <a:buFont typeface="Arial"/>
              <a:buChar char="•"/>
            </a:pPr>
            <a:r>
              <a:rPr lang="en-US" sz="2427" spc="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Dùng các thẻ h, p để trình bày tiêu đề và văn bản</a:t>
            </a:r>
          </a:p>
          <a:p>
            <a:pPr algn="l">
              <a:lnSpc>
                <a:spcPts val="2549"/>
              </a:lnSpc>
              <a:spcBef>
                <a:spcPct val="0"/>
              </a:spcBef>
            </a:pPr>
          </a:p>
          <a:p>
            <a:pPr algn="l" marL="524204" indent="-262102" lvl="1">
              <a:lnSpc>
                <a:spcPts val="2549"/>
              </a:lnSpc>
              <a:spcBef>
                <a:spcPct val="0"/>
              </a:spcBef>
              <a:buFont typeface="Arial"/>
              <a:buChar char="•"/>
            </a:pPr>
            <a:r>
              <a:rPr lang="en-US" sz="2427" spc="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Liên kết CSS ngoài (External CSS) để định dạng giao diện trang web</a:t>
            </a:r>
          </a:p>
          <a:p>
            <a:pPr algn="l">
              <a:lnSpc>
                <a:spcPts val="2549"/>
              </a:lnSpc>
              <a:spcBef>
                <a:spcPct val="0"/>
              </a:spcBef>
            </a:pPr>
          </a:p>
          <a:p>
            <a:pPr algn="l" marL="524204" indent="-262102" lvl="1">
              <a:lnSpc>
                <a:spcPts val="2549"/>
              </a:lnSpc>
              <a:spcBef>
                <a:spcPct val="0"/>
              </a:spcBef>
              <a:buFont typeface="Arial"/>
              <a:buChar char="•"/>
            </a:pPr>
            <a:r>
              <a:rPr lang="en-US" sz="2427" spc="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Chèn hình ảnh minh họa nội dung ngày Tết</a:t>
            </a:r>
          </a:p>
          <a:p>
            <a:pPr algn="l">
              <a:lnSpc>
                <a:spcPts val="2549"/>
              </a:lnSpc>
              <a:spcBef>
                <a:spcPct val="0"/>
              </a:spcBef>
            </a:pPr>
          </a:p>
          <a:p>
            <a:pPr algn="l" marL="524204" indent="-262102" lvl="1">
              <a:lnSpc>
                <a:spcPts val="2549"/>
              </a:lnSpc>
              <a:spcBef>
                <a:spcPct val="0"/>
              </a:spcBef>
              <a:buFont typeface="Arial"/>
              <a:buChar char="•"/>
            </a:pPr>
            <a:r>
              <a:rPr lang="en-US" sz="2427" spc="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Sử dụng siêu liên kết để dẫn nguồn hình ảnh</a:t>
            </a:r>
          </a:p>
          <a:p>
            <a:pPr algn="l">
              <a:lnSpc>
                <a:spcPts val="2549"/>
              </a:lnSpc>
              <a:spcBef>
                <a:spcPct val="0"/>
              </a:spcBef>
            </a:pPr>
          </a:p>
          <a:p>
            <a:pPr algn="l" marL="524204" indent="-262102" lvl="1">
              <a:lnSpc>
                <a:spcPts val="2549"/>
              </a:lnSpc>
              <a:spcBef>
                <a:spcPct val="0"/>
              </a:spcBef>
              <a:buFont typeface="Arial"/>
              <a:buChar char="•"/>
            </a:pPr>
            <a:r>
              <a:rPr lang="en-US" sz="2427" spc="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Tạo form bình luận (họ tên, email, nội dung)</a:t>
            </a:r>
          </a:p>
          <a:p>
            <a:pPr algn="l">
              <a:lnSpc>
                <a:spcPts val="2549"/>
              </a:lnSpc>
              <a:spcBef>
                <a:spcPct val="0"/>
              </a:spcBef>
            </a:pPr>
          </a:p>
          <a:p>
            <a:pPr algn="l">
              <a:lnSpc>
                <a:spcPts val="2549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4498838" y="2858763"/>
            <a:ext cx="1071611" cy="372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78"/>
              </a:lnSpc>
              <a:spcBef>
                <a:spcPct val="0"/>
              </a:spcBef>
            </a:pPr>
            <a:r>
              <a:rPr lang="en-US" b="true" sz="2645" spc="8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HTML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30912" y="3250714"/>
            <a:ext cx="8799986" cy="671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8"/>
              </a:lnSpc>
              <a:spcBef>
                <a:spcPct val="0"/>
              </a:spcBef>
            </a:pPr>
          </a:p>
          <a:p>
            <a:pPr algn="l" marL="499402" indent="-249701" lvl="1">
              <a:lnSpc>
                <a:spcPts val="2428"/>
              </a:lnSpc>
              <a:spcBef>
                <a:spcPct val="0"/>
              </a:spcBef>
              <a:buFont typeface="Arial"/>
              <a:buChar char="•"/>
            </a:pPr>
            <a:r>
              <a:rPr lang="en-US" sz="2313" spc="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Sử dụng CSS ngoài để định dạng giao diện trang web</a:t>
            </a:r>
          </a:p>
          <a:p>
            <a:pPr algn="l">
              <a:lnSpc>
                <a:spcPts val="2428"/>
              </a:lnSpc>
              <a:spcBef>
                <a:spcPct val="0"/>
              </a:spcBef>
            </a:pPr>
          </a:p>
          <a:p>
            <a:pPr algn="l" marL="499402" indent="-249701" lvl="1">
              <a:lnSpc>
                <a:spcPts val="2428"/>
              </a:lnSpc>
              <a:spcBef>
                <a:spcPct val="0"/>
              </a:spcBef>
              <a:buFont typeface="Arial"/>
              <a:buChar char="•"/>
            </a:pPr>
            <a:r>
              <a:rPr lang="en-US" sz="2313" spc="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Thiết lập màu nền cho trang bằng background-color, phù hợp chủ đề ngày Tết</a:t>
            </a:r>
          </a:p>
          <a:p>
            <a:pPr algn="l">
              <a:lnSpc>
                <a:spcPts val="2428"/>
              </a:lnSpc>
              <a:spcBef>
                <a:spcPct val="0"/>
              </a:spcBef>
            </a:pPr>
          </a:p>
          <a:p>
            <a:pPr algn="l" marL="499402" indent="-249701" lvl="1">
              <a:lnSpc>
                <a:spcPts val="2428"/>
              </a:lnSpc>
              <a:spcBef>
                <a:spcPct val="0"/>
              </a:spcBef>
              <a:buFont typeface="Arial"/>
              <a:buChar char="•"/>
            </a:pPr>
            <a:r>
              <a:rPr lang="en-US" sz="2313" spc="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Định dạng font chữ Times New Roman </a:t>
            </a:r>
          </a:p>
          <a:p>
            <a:pPr algn="l">
              <a:lnSpc>
                <a:spcPts val="2428"/>
              </a:lnSpc>
              <a:spcBef>
                <a:spcPct val="0"/>
              </a:spcBef>
            </a:pPr>
          </a:p>
          <a:p>
            <a:pPr algn="l" marL="499402" indent="-249701" lvl="1">
              <a:lnSpc>
                <a:spcPts val="2428"/>
              </a:lnSpc>
              <a:spcBef>
                <a:spcPct val="0"/>
              </a:spcBef>
              <a:buFont typeface="Arial"/>
              <a:buChar char="•"/>
            </a:pPr>
            <a:r>
              <a:rPr lang="en-US" sz="2313" spc="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Sử dụng CSS cho header và footer với màu đỏ – vàng đặc trưng ngày Tết, căn giữa nội dung bằng text-align</a:t>
            </a:r>
          </a:p>
          <a:p>
            <a:pPr algn="l">
              <a:lnSpc>
                <a:spcPts val="2428"/>
              </a:lnSpc>
              <a:spcBef>
                <a:spcPct val="0"/>
              </a:spcBef>
            </a:pPr>
          </a:p>
          <a:p>
            <a:pPr algn="l" marL="499402" indent="-249701" lvl="1">
              <a:lnSpc>
                <a:spcPts val="2428"/>
              </a:lnSpc>
              <a:spcBef>
                <a:spcPct val="0"/>
              </a:spcBef>
              <a:buFont typeface="Arial"/>
              <a:buChar char="•"/>
            </a:pPr>
            <a:r>
              <a:rPr lang="en-US" sz="2313" spc="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Dùng class .giua để căn chỉnh riêng phần ghi nguồn hình ảnh</a:t>
            </a:r>
          </a:p>
          <a:p>
            <a:pPr algn="l">
              <a:lnSpc>
                <a:spcPts val="2428"/>
              </a:lnSpc>
              <a:spcBef>
                <a:spcPct val="0"/>
              </a:spcBef>
            </a:pPr>
          </a:p>
          <a:p>
            <a:pPr algn="l" marL="499402" indent="-249701" lvl="1">
              <a:lnSpc>
                <a:spcPts val="2428"/>
              </a:lnSpc>
              <a:spcBef>
                <a:spcPct val="0"/>
              </a:spcBef>
              <a:buFont typeface="Arial"/>
              <a:buChar char="•"/>
            </a:pPr>
            <a:r>
              <a:rPr lang="en-US" sz="2313" spc="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Sử dụng các bộ chọn lớp, phần tử, định danh</a:t>
            </a:r>
          </a:p>
          <a:p>
            <a:pPr algn="l">
              <a:lnSpc>
                <a:spcPts val="2428"/>
              </a:lnSpc>
              <a:spcBef>
                <a:spcPct val="0"/>
              </a:spcBef>
            </a:pPr>
          </a:p>
          <a:p>
            <a:pPr algn="l" marL="499402" indent="-249701" lvl="1">
              <a:lnSpc>
                <a:spcPts val="2428"/>
              </a:lnSpc>
              <a:spcBef>
                <a:spcPct val="0"/>
              </a:spcBef>
              <a:buFont typeface="Arial"/>
              <a:buChar char="•"/>
            </a:pPr>
            <a:r>
              <a:rPr lang="en-US" sz="2313" spc="7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Chỉnh màu sắc và căn giữa tiêu đề h2 giúp bố cục rõ ràng, dễ theo dõi</a:t>
            </a:r>
          </a:p>
          <a:p>
            <a:pPr algn="l">
              <a:lnSpc>
                <a:spcPts val="2428"/>
              </a:lnSpc>
              <a:spcBef>
                <a:spcPct val="0"/>
              </a:spcBef>
            </a:pPr>
          </a:p>
          <a:p>
            <a:pPr algn="l">
              <a:lnSpc>
                <a:spcPts val="2428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3500547" y="2879227"/>
            <a:ext cx="851439" cy="40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58"/>
              </a:lnSpc>
              <a:spcBef>
                <a:spcPct val="0"/>
              </a:spcBef>
            </a:pPr>
            <a:r>
              <a:rPr lang="en-US" b="true" sz="2817" spc="9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CSS</a:t>
            </a:r>
          </a:p>
        </p:txBody>
      </p:sp>
      <p:sp>
        <p:nvSpPr>
          <p:cNvPr name="Freeform 25" id="25"/>
          <p:cNvSpPr/>
          <p:nvPr/>
        </p:nvSpPr>
        <p:spPr>
          <a:xfrm flipH="false" flipV="true" rot="0">
            <a:off x="13292151" y="-2989286"/>
            <a:ext cx="5081025" cy="5978571"/>
          </a:xfrm>
          <a:custGeom>
            <a:avLst/>
            <a:gdLst/>
            <a:ahLst/>
            <a:cxnLst/>
            <a:rect r="r" b="b" t="t" l="l"/>
            <a:pathLst>
              <a:path h="5978571" w="5081025">
                <a:moveTo>
                  <a:pt x="0" y="5978572"/>
                </a:moveTo>
                <a:lnTo>
                  <a:pt x="5081025" y="5978572"/>
                </a:lnTo>
                <a:lnTo>
                  <a:pt x="5081025" y="0"/>
                </a:lnTo>
                <a:lnTo>
                  <a:pt x="0" y="0"/>
                </a:lnTo>
                <a:lnTo>
                  <a:pt x="0" y="5978572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509932"/>
            <a:ext cx="685996" cy="518768"/>
          </a:xfrm>
          <a:custGeom>
            <a:avLst/>
            <a:gdLst/>
            <a:ahLst/>
            <a:cxnLst/>
            <a:rect r="r" b="b" t="t" l="l"/>
            <a:pathLst>
              <a:path h="518768" w="685996">
                <a:moveTo>
                  <a:pt x="0" y="0"/>
                </a:moveTo>
                <a:lnTo>
                  <a:pt x="685996" y="0"/>
                </a:lnTo>
                <a:lnTo>
                  <a:pt x="685996" y="518768"/>
                </a:lnTo>
                <a:lnTo>
                  <a:pt x="0" y="5187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1698" y="1908301"/>
            <a:ext cx="7038945" cy="12136111"/>
          </a:xfrm>
          <a:custGeom>
            <a:avLst/>
            <a:gdLst/>
            <a:ahLst/>
            <a:cxnLst/>
            <a:rect r="r" b="b" t="t" l="l"/>
            <a:pathLst>
              <a:path h="12136111" w="7038945">
                <a:moveTo>
                  <a:pt x="0" y="0"/>
                </a:moveTo>
                <a:lnTo>
                  <a:pt x="7038945" y="0"/>
                </a:lnTo>
                <a:lnTo>
                  <a:pt x="7038945" y="12136112"/>
                </a:lnTo>
                <a:lnTo>
                  <a:pt x="0" y="121361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881752" y="3880237"/>
            <a:ext cx="3428494" cy="8571235"/>
          </a:xfrm>
          <a:custGeom>
            <a:avLst/>
            <a:gdLst/>
            <a:ahLst/>
            <a:cxnLst/>
            <a:rect r="r" b="b" t="t" l="l"/>
            <a:pathLst>
              <a:path h="8571235" w="3428494">
                <a:moveTo>
                  <a:pt x="0" y="0"/>
                </a:moveTo>
                <a:lnTo>
                  <a:pt x="3428494" y="0"/>
                </a:lnTo>
                <a:lnTo>
                  <a:pt x="3428494" y="8571236"/>
                </a:lnTo>
                <a:lnTo>
                  <a:pt x="0" y="85712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10719" y="6292977"/>
            <a:ext cx="3342065" cy="2965323"/>
          </a:xfrm>
          <a:custGeom>
            <a:avLst/>
            <a:gdLst/>
            <a:ahLst/>
            <a:cxnLst/>
            <a:rect r="r" b="b" t="t" l="l"/>
            <a:pathLst>
              <a:path h="2965323" w="3342065">
                <a:moveTo>
                  <a:pt x="0" y="0"/>
                </a:moveTo>
                <a:lnTo>
                  <a:pt x="3342066" y="0"/>
                </a:lnTo>
                <a:lnTo>
                  <a:pt x="3342066" y="2965323"/>
                </a:lnTo>
                <a:lnTo>
                  <a:pt x="0" y="29653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87779" y="672161"/>
            <a:ext cx="1678700" cy="181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sz="1317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NHÓM 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5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303391" y="5653039"/>
            <a:ext cx="3342065" cy="2965323"/>
          </a:xfrm>
          <a:custGeom>
            <a:avLst/>
            <a:gdLst/>
            <a:ahLst/>
            <a:cxnLst/>
            <a:rect r="r" b="b" t="t" l="l"/>
            <a:pathLst>
              <a:path h="2965323" w="3342065">
                <a:moveTo>
                  <a:pt x="0" y="0"/>
                </a:moveTo>
                <a:lnTo>
                  <a:pt x="3342065" y="0"/>
                </a:lnTo>
                <a:lnTo>
                  <a:pt x="3342065" y="2965324"/>
                </a:lnTo>
                <a:lnTo>
                  <a:pt x="0" y="29653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087707" y="1222112"/>
            <a:ext cx="9595534" cy="1284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8"/>
              </a:lnSpc>
            </a:pPr>
            <a:r>
              <a:rPr lang="en-US" sz="4741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MỨC ĐỘ HOÀN THIỆN TRANG WEB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97931" y="3098879"/>
            <a:ext cx="7049478" cy="512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5"/>
              </a:lnSpc>
              <a:spcBef>
                <a:spcPct val="0"/>
              </a:spcBef>
            </a:pPr>
          </a:p>
          <a:p>
            <a:pPr algn="just" marL="558364" indent="-279182" lvl="1">
              <a:lnSpc>
                <a:spcPts val="2715"/>
              </a:lnSpc>
              <a:spcBef>
                <a:spcPct val="0"/>
              </a:spcBef>
              <a:buFont typeface="Arial"/>
              <a:buChar char="•"/>
            </a:pPr>
            <a:r>
              <a:rPr lang="en-US" sz="2586" spc="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Trang web hiển thị ổn định, màu sắc dễ nhìn </a:t>
            </a:r>
          </a:p>
          <a:p>
            <a:pPr algn="just">
              <a:lnSpc>
                <a:spcPts val="2715"/>
              </a:lnSpc>
              <a:spcBef>
                <a:spcPct val="0"/>
              </a:spcBef>
            </a:pPr>
          </a:p>
          <a:p>
            <a:pPr algn="just" marL="558364" indent="-279182" lvl="1">
              <a:lnSpc>
                <a:spcPts val="2715"/>
              </a:lnSpc>
              <a:spcBef>
                <a:spcPct val="0"/>
              </a:spcBef>
              <a:buFont typeface="Arial"/>
              <a:buChar char="•"/>
            </a:pPr>
            <a:r>
              <a:rPr lang="en-US" sz="2586" spc="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Nội dung đúng chủ đề Ngày Tết học sinh lớp 12</a:t>
            </a:r>
          </a:p>
          <a:p>
            <a:pPr algn="just">
              <a:lnSpc>
                <a:spcPts val="2715"/>
              </a:lnSpc>
              <a:spcBef>
                <a:spcPct val="0"/>
              </a:spcBef>
            </a:pPr>
          </a:p>
          <a:p>
            <a:pPr algn="just" marL="558364" indent="-279182" lvl="1">
              <a:lnSpc>
                <a:spcPts val="2715"/>
              </a:lnSpc>
              <a:spcBef>
                <a:spcPct val="0"/>
              </a:spcBef>
              <a:buFont typeface="Arial"/>
              <a:buChar char="•"/>
            </a:pPr>
            <a:r>
              <a:rPr lang="en-US" sz="2586" spc="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Giao diện đơn giản, dễ sử dụng</a:t>
            </a:r>
          </a:p>
          <a:p>
            <a:pPr algn="just">
              <a:lnSpc>
                <a:spcPts val="2715"/>
              </a:lnSpc>
              <a:spcBef>
                <a:spcPct val="0"/>
              </a:spcBef>
            </a:pPr>
          </a:p>
          <a:p>
            <a:pPr algn="just" marL="558364" indent="-279182" lvl="1">
              <a:lnSpc>
                <a:spcPts val="2715"/>
              </a:lnSpc>
              <a:spcBef>
                <a:spcPct val="0"/>
              </a:spcBef>
              <a:buFont typeface="Arial"/>
              <a:buChar char="•"/>
            </a:pPr>
            <a:r>
              <a:rPr lang="en-US" sz="2586" spc="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Đáp ứng yêu cầu bài học Tin học lớp 12</a:t>
            </a:r>
          </a:p>
          <a:p>
            <a:pPr algn="just">
              <a:lnSpc>
                <a:spcPts val="2715"/>
              </a:lnSpc>
              <a:spcBef>
                <a:spcPct val="0"/>
              </a:spcBef>
            </a:pPr>
          </a:p>
          <a:p>
            <a:pPr algn="just">
              <a:lnSpc>
                <a:spcPts val="2715"/>
              </a:lnSpc>
              <a:spcBef>
                <a:spcPct val="0"/>
              </a:spcBef>
            </a:pPr>
            <a:r>
              <a:rPr lang="en-US" sz="2586" spc="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–--&gt; Mức độ hoàn thiện khoảng 80%, trang web còn thiếu nhiều nội dung và hình ảnh.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-3396456" y="4248457"/>
            <a:ext cx="4607176" cy="5421018"/>
          </a:xfrm>
          <a:custGeom>
            <a:avLst/>
            <a:gdLst/>
            <a:ahLst/>
            <a:cxnLst/>
            <a:rect r="r" b="b" t="t" l="l"/>
            <a:pathLst>
              <a:path h="5421018" w="4607176">
                <a:moveTo>
                  <a:pt x="0" y="0"/>
                </a:moveTo>
                <a:lnTo>
                  <a:pt x="4607175" y="0"/>
                </a:lnTo>
                <a:lnTo>
                  <a:pt x="4607175" y="5421019"/>
                </a:lnTo>
                <a:lnTo>
                  <a:pt x="0" y="54210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270929" y="6292977"/>
            <a:ext cx="4607176" cy="5421018"/>
          </a:xfrm>
          <a:custGeom>
            <a:avLst/>
            <a:gdLst/>
            <a:ahLst/>
            <a:cxnLst/>
            <a:rect r="r" b="b" t="t" l="l"/>
            <a:pathLst>
              <a:path h="5421018" w="4607176">
                <a:moveTo>
                  <a:pt x="0" y="0"/>
                </a:moveTo>
                <a:lnTo>
                  <a:pt x="4607175" y="0"/>
                </a:lnTo>
                <a:lnTo>
                  <a:pt x="4607175" y="5421018"/>
                </a:lnTo>
                <a:lnTo>
                  <a:pt x="0" y="542101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509932"/>
            <a:ext cx="685996" cy="518768"/>
          </a:xfrm>
          <a:custGeom>
            <a:avLst/>
            <a:gdLst/>
            <a:ahLst/>
            <a:cxnLst/>
            <a:rect r="r" b="b" t="t" l="l"/>
            <a:pathLst>
              <a:path h="518768" w="685996">
                <a:moveTo>
                  <a:pt x="0" y="0"/>
                </a:moveTo>
                <a:lnTo>
                  <a:pt x="685996" y="0"/>
                </a:lnTo>
                <a:lnTo>
                  <a:pt x="685996" y="518768"/>
                </a:lnTo>
                <a:lnTo>
                  <a:pt x="0" y="5187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764242" y="840906"/>
            <a:ext cx="10641098" cy="9557641"/>
          </a:xfrm>
          <a:custGeom>
            <a:avLst/>
            <a:gdLst/>
            <a:ahLst/>
            <a:cxnLst/>
            <a:rect r="r" b="b" t="t" l="l"/>
            <a:pathLst>
              <a:path h="9557641" w="10641098">
                <a:moveTo>
                  <a:pt x="0" y="0"/>
                </a:moveTo>
                <a:lnTo>
                  <a:pt x="10641099" y="0"/>
                </a:lnTo>
                <a:lnTo>
                  <a:pt x="10641099" y="9557641"/>
                </a:lnTo>
                <a:lnTo>
                  <a:pt x="0" y="95576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779549" y="2358150"/>
            <a:ext cx="8610486" cy="65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8"/>
              </a:lnSpc>
            </a:pPr>
            <a:r>
              <a:rPr lang="en-US" sz="4741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NGUỒN THAM KHẢO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552139" y="-3129543"/>
            <a:ext cx="4607176" cy="5421018"/>
          </a:xfrm>
          <a:custGeom>
            <a:avLst/>
            <a:gdLst/>
            <a:ahLst/>
            <a:cxnLst/>
            <a:rect r="r" b="b" t="t" l="l"/>
            <a:pathLst>
              <a:path h="5421018" w="4607176">
                <a:moveTo>
                  <a:pt x="0" y="0"/>
                </a:moveTo>
                <a:lnTo>
                  <a:pt x="4607175" y="0"/>
                </a:lnTo>
                <a:lnTo>
                  <a:pt x="4607175" y="5421018"/>
                </a:lnTo>
                <a:lnTo>
                  <a:pt x="0" y="54210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396456" y="4248457"/>
            <a:ext cx="4607176" cy="5421018"/>
          </a:xfrm>
          <a:custGeom>
            <a:avLst/>
            <a:gdLst/>
            <a:ahLst/>
            <a:cxnLst/>
            <a:rect r="r" b="b" t="t" l="l"/>
            <a:pathLst>
              <a:path h="5421018" w="4607176">
                <a:moveTo>
                  <a:pt x="0" y="0"/>
                </a:moveTo>
                <a:lnTo>
                  <a:pt x="4607175" y="0"/>
                </a:lnTo>
                <a:lnTo>
                  <a:pt x="4607175" y="5421019"/>
                </a:lnTo>
                <a:lnTo>
                  <a:pt x="0" y="5421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709231" y="1028700"/>
            <a:ext cx="5393206" cy="8698720"/>
          </a:xfrm>
          <a:custGeom>
            <a:avLst/>
            <a:gdLst/>
            <a:ahLst/>
            <a:cxnLst/>
            <a:rect r="r" b="b" t="t" l="l"/>
            <a:pathLst>
              <a:path h="8698720" w="5393206">
                <a:moveTo>
                  <a:pt x="5393207" y="0"/>
                </a:moveTo>
                <a:lnTo>
                  <a:pt x="0" y="0"/>
                </a:lnTo>
                <a:lnTo>
                  <a:pt x="0" y="8698720"/>
                </a:lnTo>
                <a:lnTo>
                  <a:pt x="5393207" y="8698720"/>
                </a:lnTo>
                <a:lnTo>
                  <a:pt x="539320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54823" y="5250573"/>
            <a:ext cx="3665913" cy="4114800"/>
          </a:xfrm>
          <a:custGeom>
            <a:avLst/>
            <a:gdLst/>
            <a:ahLst/>
            <a:cxnLst/>
            <a:rect r="r" b="b" t="t" l="l"/>
            <a:pathLst>
              <a:path h="4114800" w="3665913">
                <a:moveTo>
                  <a:pt x="3665913" y="0"/>
                </a:moveTo>
                <a:lnTo>
                  <a:pt x="0" y="0"/>
                </a:lnTo>
                <a:lnTo>
                  <a:pt x="0" y="4114800"/>
                </a:lnTo>
                <a:lnTo>
                  <a:pt x="3665913" y="4114800"/>
                </a:lnTo>
                <a:lnTo>
                  <a:pt x="3665913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87779" y="672161"/>
            <a:ext cx="1678700" cy="181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sz="1317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NHÓM 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45241" y="3939566"/>
            <a:ext cx="10574435" cy="2426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9"/>
              </a:lnSpc>
            </a:pPr>
            <a:r>
              <a:rPr lang="en-US" sz="3618" spc="1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Hình ảnh, mã màu: Google</a:t>
            </a:r>
          </a:p>
          <a:p>
            <a:pPr algn="just">
              <a:lnSpc>
                <a:spcPts val="3799"/>
              </a:lnSpc>
            </a:pPr>
          </a:p>
          <a:p>
            <a:pPr algn="just">
              <a:lnSpc>
                <a:spcPts val="3799"/>
              </a:lnSpc>
            </a:pPr>
            <a:r>
              <a:rPr lang="en-US" sz="3618" spc="1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Nội dung: ChatGPT</a:t>
            </a:r>
          </a:p>
          <a:p>
            <a:pPr algn="just">
              <a:lnSpc>
                <a:spcPts val="3799"/>
              </a:lnSpc>
            </a:pPr>
          </a:p>
          <a:p>
            <a:pPr algn="just">
              <a:lnSpc>
                <a:spcPts val="3799"/>
              </a:lnSpc>
              <a:spcBef>
                <a:spcPct val="0"/>
              </a:spcBef>
            </a:pPr>
            <a:r>
              <a:rPr lang="en-US" sz="3618" spc="1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Code: Tham khảo sách giáo khoa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16186" y="1135773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65251" y="-1543050"/>
            <a:ext cx="4199655" cy="3086100"/>
            <a:chOff x="0" y="0"/>
            <a:chExt cx="1106082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6082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082">
                  <a:moveTo>
                    <a:pt x="46087" y="0"/>
                  </a:moveTo>
                  <a:lnTo>
                    <a:pt x="1059995" y="0"/>
                  </a:lnTo>
                  <a:cubicBezTo>
                    <a:pt x="1072218" y="0"/>
                    <a:pt x="1083941" y="4856"/>
                    <a:pt x="1092584" y="13498"/>
                  </a:cubicBezTo>
                  <a:cubicBezTo>
                    <a:pt x="1101226" y="22141"/>
                    <a:pt x="1106082" y="33864"/>
                    <a:pt x="1106082" y="46087"/>
                  </a:cubicBezTo>
                  <a:lnTo>
                    <a:pt x="1106082" y="766713"/>
                  </a:lnTo>
                  <a:cubicBezTo>
                    <a:pt x="1106082" y="778936"/>
                    <a:pt x="1101226" y="790659"/>
                    <a:pt x="1092584" y="799302"/>
                  </a:cubicBezTo>
                  <a:cubicBezTo>
                    <a:pt x="1083941" y="807944"/>
                    <a:pt x="1072218" y="812800"/>
                    <a:pt x="1059995" y="812800"/>
                  </a:cubicBezTo>
                  <a:lnTo>
                    <a:pt x="46087" y="812800"/>
                  </a:lnTo>
                  <a:cubicBezTo>
                    <a:pt x="33864" y="812800"/>
                    <a:pt x="22141" y="807944"/>
                    <a:pt x="13498" y="799302"/>
                  </a:cubicBezTo>
                  <a:cubicBezTo>
                    <a:pt x="4856" y="790659"/>
                    <a:pt x="0" y="778936"/>
                    <a:pt x="0" y="766713"/>
                  </a:cubicBezTo>
                  <a:lnTo>
                    <a:pt x="0" y="46087"/>
                  </a:lnTo>
                  <a:cubicBezTo>
                    <a:pt x="0" y="33864"/>
                    <a:pt x="4856" y="22141"/>
                    <a:pt x="13498" y="13498"/>
                  </a:cubicBezTo>
                  <a:cubicBezTo>
                    <a:pt x="22141" y="4856"/>
                    <a:pt x="33864" y="0"/>
                    <a:pt x="460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106082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509932"/>
            <a:ext cx="685996" cy="518768"/>
          </a:xfrm>
          <a:custGeom>
            <a:avLst/>
            <a:gdLst/>
            <a:ahLst/>
            <a:cxnLst/>
            <a:rect r="r" b="b" t="t" l="l"/>
            <a:pathLst>
              <a:path h="518768" w="685996">
                <a:moveTo>
                  <a:pt x="0" y="0"/>
                </a:moveTo>
                <a:lnTo>
                  <a:pt x="685996" y="0"/>
                </a:lnTo>
                <a:lnTo>
                  <a:pt x="685996" y="518768"/>
                </a:lnTo>
                <a:lnTo>
                  <a:pt x="0" y="5187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600950" y="9365373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762244" y="2186245"/>
            <a:ext cx="6994113" cy="8229600"/>
          </a:xfrm>
          <a:custGeom>
            <a:avLst/>
            <a:gdLst/>
            <a:ahLst/>
            <a:cxnLst/>
            <a:rect r="r" b="b" t="t" l="l"/>
            <a:pathLst>
              <a:path h="8229600" w="6994113">
                <a:moveTo>
                  <a:pt x="0" y="0"/>
                </a:moveTo>
                <a:lnTo>
                  <a:pt x="6994112" y="0"/>
                </a:lnTo>
                <a:lnTo>
                  <a:pt x="699411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1653955"/>
            <a:ext cx="16514364" cy="7086163"/>
          </a:xfrm>
          <a:custGeom>
            <a:avLst/>
            <a:gdLst/>
            <a:ahLst/>
            <a:cxnLst/>
            <a:rect r="r" b="b" t="t" l="l"/>
            <a:pathLst>
              <a:path h="7086163" w="16514364">
                <a:moveTo>
                  <a:pt x="0" y="0"/>
                </a:moveTo>
                <a:lnTo>
                  <a:pt x="16514364" y="0"/>
                </a:lnTo>
                <a:lnTo>
                  <a:pt x="16514364" y="7086163"/>
                </a:lnTo>
                <a:lnTo>
                  <a:pt x="0" y="70861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87779" y="672161"/>
            <a:ext cx="1678700" cy="181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sz="1317" b="true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NHÓM 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45241" y="9751450"/>
            <a:ext cx="1684932" cy="23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b="true" sz="1739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64317" y="4618476"/>
            <a:ext cx="11959365" cy="140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05"/>
              </a:lnSpc>
            </a:pPr>
            <a:r>
              <a:rPr lang="en-US" b="true" sz="10195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THANK YOU!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DAG_sU1Lllc</dc:identifier>
  <dcterms:modified xsi:type="dcterms:W3CDTF">2011-08-01T06:04:30Z</dcterms:modified>
  <cp:revision>1</cp:revision>
  <dc:title>BÀI THUYẾT TRÌNH DỰ ÁN TRANG WEB BÁO TƯỜNG</dc:title>
</cp:coreProperties>
</file>